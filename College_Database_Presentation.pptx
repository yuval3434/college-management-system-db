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3110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the team and the project: we took our Object-Oriented College program and replaced its in-memory arrays and .bin file with a real PostgreSQL database accessed through JDBC. Replace the bracketed names with the real team members.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the before/after. Before: data lived in memory and was serialized to a .bin file. After: data lives in PostgreSQL; the program talks to it with JDBC PreparedStatements and supports insert/update/delete/search.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entities and the two interesting relationships: (1) a lecturer can be in many committees and a committee has many lecturers - a many-to-many that we resolved with the COMMITTEE_MEMBER junction table; (2) the Doctor/Professor inheritance became a single LECTURER table (with a degree_level column) plus a separate ARTICLE table. You can replace this drawing with the PNG exported from college_erd.mmd via mermaid.live if you prefer.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six tables and their keys. Stress that the schema is in 3NF: we removed repeating arrays (articles), used single-column keys, and avoided transitive dependencies - for example we do NOT keep college_id in lecturer, because department already determines the college.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Mention the 13 queries and the two triggers, and explain WHY you chose the triggers (they enforce the same rules the original Java enforced, but now at the database level). Then run the live demo: option 9 (list), 1 (add), 15 (search), 16 (update wage), and finally option 3 adding a degree-1 lecturer to a Doctor committee so the trigger rejects it.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160520"/>
            <a:ext cx="12191695" cy="73152"/>
          </a:xfrm>
          <a:prstGeom prst="rect">
            <a:avLst/>
          </a:prstGeom>
          <a:solidFill>
            <a:srgbClr val="2E74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10332720" cy="1188720"/>
          </a:xfrm>
          <a:prstGeom prst="rect">
            <a:avLst/>
          </a:prstGeom>
          <a:noFill/>
        </p:spPr>
        <p:txBody>
          <a:bodyPr wrap="square" anchor="t">
            <a:spAutoFit/>
          </a:bodyPr>
          <a:lstStyle/>
          <a:p>
            <a:pPr algn="ctr"/>
            <a:r>
              <a:rPr sz="4600" b="1">
                <a:solidFill>
                  <a:srgbClr val="FFFFFF"/>
                </a:solidFill>
                <a:latin typeface="Calibri"/>
              </a:rPr>
              <a:t>College Management Database</a:t>
            </a:r>
          </a:p>
        </p:txBody>
      </p:sp>
      <p:sp>
        <p:nvSpPr>
          <p:cNvPr id="5" name="TextBox 4"/>
          <p:cNvSpPr txBox="1"/>
          <p:nvPr/>
        </p:nvSpPr>
        <p:spPr>
          <a:xfrm>
            <a:off x="914400" y="3017520"/>
            <a:ext cx="10332720" cy="731520"/>
          </a:xfrm>
          <a:prstGeom prst="rect">
            <a:avLst/>
          </a:prstGeom>
          <a:noFill/>
        </p:spPr>
        <p:txBody>
          <a:bodyPr wrap="square" anchor="t">
            <a:spAutoFit/>
          </a:bodyPr>
          <a:lstStyle/>
          <a:p>
            <a:pPr algn="ctr"/>
            <a:r>
              <a:rPr sz="2200" b="0">
                <a:solidFill>
                  <a:srgbClr val="DDE8F3"/>
                </a:solidFill>
                <a:latin typeface="Calibri"/>
              </a:rPr>
              <a:t>Replacing array / file storage with a PostgreSQL database (JDBC)</a:t>
            </a:r>
          </a:p>
        </p:txBody>
      </p:sp>
      <p:sp>
        <p:nvSpPr>
          <p:cNvPr id="6" name="TextBox 5"/>
          <p:cNvSpPr txBox="1"/>
          <p:nvPr/>
        </p:nvSpPr>
        <p:spPr>
          <a:xfrm>
            <a:off x="914400" y="4480560"/>
            <a:ext cx="10332720" cy="923330"/>
          </a:xfrm>
          <a:prstGeom prst="rect">
            <a:avLst/>
          </a:prstGeom>
          <a:noFill/>
        </p:spPr>
        <p:txBody>
          <a:bodyPr wrap="square" anchor="t">
            <a:spAutoFit/>
          </a:bodyPr>
          <a:lstStyle/>
          <a:p>
            <a:pPr algn="ctr"/>
            <a:r>
              <a:rPr sz="2000" b="1" dirty="0">
                <a:solidFill>
                  <a:srgbClr val="FFFFFF"/>
                </a:solidFill>
                <a:latin typeface="Calibri"/>
              </a:rPr>
              <a:t>Database Systems 10127</a:t>
            </a:r>
          </a:p>
          <a:p>
            <a:pPr algn="ctr"/>
            <a:r>
              <a:rPr sz="1600" b="0" dirty="0">
                <a:solidFill>
                  <a:srgbClr val="DDE8F3"/>
                </a:solidFill>
                <a:latin typeface="Calibri"/>
              </a:rPr>
              <a:t>Original program from: Object-Oriented Programming (10118)</a:t>
            </a:r>
          </a:p>
          <a:p>
            <a:pPr algn="ctr"/>
            <a:r>
              <a:rPr lang="en-US" sz="1800" b="0" dirty="0">
                <a:solidFill>
                  <a:srgbClr val="FFFFFF"/>
                </a:solidFill>
                <a:latin typeface="Calibri"/>
              </a:rPr>
              <a:t>Y</a:t>
            </a:r>
            <a:r>
              <a:rPr lang="en-US" dirty="0">
                <a:solidFill>
                  <a:srgbClr val="FFFFFF"/>
                </a:solidFill>
                <a:latin typeface="Calibri"/>
              </a:rPr>
              <a:t>uval Dror, 213144058</a:t>
            </a:r>
            <a:r>
              <a:rPr sz="1800" b="0" dirty="0">
                <a:solidFill>
                  <a:srgbClr val="FFFFFF"/>
                </a:solidFill>
                <a:latin typeface="Calibri"/>
              </a:rPr>
              <a:t>  •  </a:t>
            </a:r>
            <a:r>
              <a:rPr lang="en-US" sz="1800" b="0" dirty="0">
                <a:solidFill>
                  <a:srgbClr val="FFFFFF"/>
                </a:solidFill>
                <a:latin typeface="Calibri"/>
              </a:rPr>
              <a:t>Doran </a:t>
            </a:r>
            <a:r>
              <a:rPr lang="en-US" sz="1800" b="0" dirty="0" err="1">
                <a:solidFill>
                  <a:srgbClr val="FFFFFF"/>
                </a:solidFill>
                <a:latin typeface="Calibri"/>
              </a:rPr>
              <a:t>Kordova</a:t>
            </a:r>
            <a:r>
              <a:rPr lang="en-US" sz="1800" b="0">
                <a:solidFill>
                  <a:srgbClr val="FFFFFF"/>
                </a:solidFill>
                <a:latin typeface="Calibri"/>
              </a:rPr>
              <a:t>, 213377708</a:t>
            </a:r>
            <a:endParaRPr sz="1800" b="0" dirty="0">
              <a:solidFill>
                <a:srgbClr val="FFFFFF"/>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0515600" cy="777240"/>
          </a:xfrm>
          <a:prstGeom prst="rect">
            <a:avLst/>
          </a:prstGeom>
          <a:noFill/>
        </p:spPr>
        <p:txBody>
          <a:bodyPr wrap="square" anchor="ctr">
            <a:spAutoFit/>
          </a:bodyPr>
          <a:lstStyle/>
          <a:p>
            <a:pPr algn="l"/>
            <a:r>
              <a:rPr sz="3000" b="1">
                <a:solidFill>
                  <a:srgbClr val="FFFFFF"/>
                </a:solidFill>
                <a:latin typeface="Calibri"/>
              </a:rPr>
              <a:t>What the project does</a:t>
            </a:r>
          </a:p>
        </p:txBody>
      </p:sp>
      <p:sp>
        <p:nvSpPr>
          <p:cNvPr id="4" name="TextBox 3"/>
          <p:cNvSpPr txBox="1"/>
          <p:nvPr/>
        </p:nvSpPr>
        <p:spPr>
          <a:xfrm>
            <a:off x="11338560" y="109728"/>
            <a:ext cx="640080" cy="777240"/>
          </a:xfrm>
          <a:prstGeom prst="rect">
            <a:avLst/>
          </a:prstGeom>
          <a:noFill/>
        </p:spPr>
        <p:txBody>
          <a:bodyPr wrap="square" anchor="ctr">
            <a:spAutoFit/>
          </a:bodyPr>
          <a:lstStyle/>
          <a:p>
            <a:pPr algn="r"/>
            <a:r>
              <a:rPr sz="2200" b="1">
                <a:solidFill>
                  <a:srgbClr val="DDE8F3"/>
                </a:solidFill>
                <a:latin typeface="Calibri"/>
              </a:rPr>
              <a:t>2</a:t>
            </a:r>
          </a:p>
        </p:txBody>
      </p:sp>
      <p:sp>
        <p:nvSpPr>
          <p:cNvPr id="5" name="TextBox 4"/>
          <p:cNvSpPr txBox="1"/>
          <p:nvPr/>
        </p:nvSpPr>
        <p:spPr>
          <a:xfrm>
            <a:off x="640080" y="1371600"/>
            <a:ext cx="10972800" cy="5029200"/>
          </a:xfrm>
          <a:prstGeom prst="rect">
            <a:avLst/>
          </a:prstGeom>
          <a:noFill/>
        </p:spPr>
        <p:txBody>
          <a:bodyPr wrap="square" anchor="t">
            <a:spAutoFit/>
          </a:bodyPr>
          <a:lstStyle/>
          <a:p>
            <a:pPr algn="l">
              <a:spcAft>
                <a:spcPts val="600"/>
              </a:spcAft>
            </a:pPr>
            <a:r>
              <a:rPr sz="2200" b="1">
                <a:solidFill>
                  <a:srgbClr val="2E74B5"/>
                </a:solidFill>
                <a:latin typeface="Calibri"/>
              </a:rPr>
              <a:t>The starting point</a:t>
            </a:r>
          </a:p>
          <a:p>
            <a:pPr algn="l">
              <a:spcAft>
                <a:spcPts val="400"/>
              </a:spcAft>
            </a:pPr>
            <a:r>
              <a:rPr sz="1800" b="0">
                <a:solidFill>
                  <a:srgbClr val="1F3A5F"/>
                </a:solidFill>
                <a:latin typeface="Calibri"/>
              </a:rPr>
              <a:t>Our OOP "College" program manages Lecturers (Doctors / Professors), Committees and study Departments.</a:t>
            </a:r>
          </a:p>
          <a:p>
            <a:pPr algn="l">
              <a:spcAft>
                <a:spcPts val="1600"/>
              </a:spcAft>
            </a:pPr>
            <a:r>
              <a:rPr sz="1800" b="0">
                <a:solidFill>
                  <a:srgbClr val="1F3A5F"/>
                </a:solidFill>
                <a:latin typeface="Calibri"/>
              </a:rPr>
              <a:t>It stored everything in Java ArrayLists and saved them to a binary file (collegeData.bin) using serialization.</a:t>
            </a:r>
          </a:p>
          <a:p>
            <a:pPr algn="l">
              <a:spcAft>
                <a:spcPts val="600"/>
              </a:spcAft>
            </a:pPr>
            <a:r>
              <a:rPr sz="2200" b="1">
                <a:solidFill>
                  <a:srgbClr val="2E74B5"/>
                </a:solidFill>
                <a:latin typeface="Calibri"/>
              </a:rPr>
              <a:t>What we changed</a:t>
            </a:r>
          </a:p>
          <a:p>
            <a:pPr algn="l">
              <a:spcAft>
                <a:spcPts val="400"/>
              </a:spcAft>
            </a:pPr>
            <a:r>
              <a:rPr sz="1800" b="0">
                <a:solidFill>
                  <a:srgbClr val="1F3A5F"/>
                </a:solidFill>
                <a:latin typeface="Calibri"/>
              </a:rPr>
              <a:t>We designed a relational database and moved all the data into PostgreSQL.</a:t>
            </a:r>
          </a:p>
          <a:p>
            <a:pPr algn="l">
              <a:spcAft>
                <a:spcPts val="400"/>
              </a:spcAft>
            </a:pPr>
            <a:r>
              <a:rPr sz="1800" b="0">
                <a:solidFill>
                  <a:srgbClr val="1F3A5F"/>
                </a:solidFill>
                <a:latin typeface="Calibri"/>
              </a:rPr>
              <a:t>The Java program now uses JDBC for every database access - no arrays, no file.</a:t>
            </a:r>
          </a:p>
          <a:p>
            <a:pPr algn="l"/>
            <a:r>
              <a:rPr sz="1800" b="0">
                <a:solidFill>
                  <a:srgbClr val="1F3A5F"/>
                </a:solidFill>
                <a:latin typeface="Calibri"/>
              </a:rPr>
              <a:t>It supports insert, update, delete and search directly on the database, plus 13 SQL queries and 2 triggers.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0515600" cy="777240"/>
          </a:xfrm>
          <a:prstGeom prst="rect">
            <a:avLst/>
          </a:prstGeom>
          <a:noFill/>
        </p:spPr>
        <p:txBody>
          <a:bodyPr wrap="square" anchor="ctr">
            <a:spAutoFit/>
          </a:bodyPr>
          <a:lstStyle/>
          <a:p>
            <a:pPr algn="l"/>
            <a:r>
              <a:rPr sz="3000" b="1">
                <a:solidFill>
                  <a:srgbClr val="FFFFFF"/>
                </a:solidFill>
                <a:latin typeface="Calibri"/>
              </a:rPr>
              <a:t>ERD - 6 entities</a:t>
            </a:r>
          </a:p>
        </p:txBody>
      </p:sp>
      <p:sp>
        <p:nvSpPr>
          <p:cNvPr id="4" name="TextBox 3"/>
          <p:cNvSpPr txBox="1"/>
          <p:nvPr/>
        </p:nvSpPr>
        <p:spPr>
          <a:xfrm>
            <a:off x="11338560" y="109728"/>
            <a:ext cx="640080" cy="777240"/>
          </a:xfrm>
          <a:prstGeom prst="rect">
            <a:avLst/>
          </a:prstGeom>
          <a:noFill/>
        </p:spPr>
        <p:txBody>
          <a:bodyPr wrap="square" anchor="ctr">
            <a:spAutoFit/>
          </a:bodyPr>
          <a:lstStyle/>
          <a:p>
            <a:pPr algn="r"/>
            <a:r>
              <a:rPr sz="2200" b="1">
                <a:solidFill>
                  <a:srgbClr val="DDE8F3"/>
                </a:solidFill>
                <a:latin typeface="Calibri"/>
              </a:rPr>
              <a:t>3</a:t>
            </a:r>
          </a:p>
        </p:txBody>
      </p:sp>
      <p:pic>
        <p:nvPicPr>
          <p:cNvPr id="5" name="Picture 4" descr="college_erd.png"/>
          <p:cNvPicPr>
            <a:picLocks noChangeAspect="1"/>
          </p:cNvPicPr>
          <p:nvPr/>
        </p:nvPicPr>
        <p:blipFill>
          <a:blip r:embed="rId3"/>
          <a:stretch>
            <a:fillRect/>
          </a:stretch>
        </p:blipFill>
        <p:spPr>
          <a:xfrm>
            <a:off x="914400" y="1143000"/>
            <a:ext cx="2950308" cy="5486400"/>
          </a:xfrm>
          <a:prstGeom prst="rect">
            <a:avLst/>
          </a:prstGeom>
        </p:spPr>
      </p:pic>
      <p:sp>
        <p:nvSpPr>
          <p:cNvPr id="6" name="TextBox 5"/>
          <p:cNvSpPr txBox="1"/>
          <p:nvPr/>
        </p:nvSpPr>
        <p:spPr>
          <a:xfrm>
            <a:off x="4937760" y="1554480"/>
            <a:ext cx="6858000" cy="4937760"/>
          </a:xfrm>
          <a:prstGeom prst="rect">
            <a:avLst/>
          </a:prstGeom>
          <a:noFill/>
        </p:spPr>
        <p:txBody>
          <a:bodyPr wrap="square" anchor="t">
            <a:spAutoFit/>
          </a:bodyPr>
          <a:lstStyle/>
          <a:p>
            <a:pPr algn="l">
              <a:spcAft>
                <a:spcPts val="600"/>
              </a:spcAft>
            </a:pPr>
            <a:r>
              <a:rPr sz="2200" b="1">
                <a:solidFill>
                  <a:srgbClr val="2E74B5"/>
                </a:solidFill>
                <a:latin typeface="Calibri"/>
              </a:rPr>
              <a:t>Six entities</a:t>
            </a:r>
          </a:p>
          <a:p>
            <a:pPr algn="l">
              <a:spcAft>
                <a:spcPts val="1600"/>
              </a:spcAft>
            </a:pPr>
            <a:r>
              <a:rPr sz="1700" b="0">
                <a:solidFill>
                  <a:srgbClr val="1F3A5F"/>
                </a:solidFill>
                <a:latin typeface="Calibri"/>
              </a:rPr>
              <a:t>college, department, lecturer, committee, article, committee_member.</a:t>
            </a:r>
          </a:p>
          <a:p>
            <a:pPr algn="l">
              <a:spcAft>
                <a:spcPts val="600"/>
              </a:spcAft>
            </a:pPr>
            <a:r>
              <a:rPr sz="2200" b="1">
                <a:solidFill>
                  <a:srgbClr val="2E74B5"/>
                </a:solidFill>
                <a:latin typeface="Calibri"/>
              </a:rPr>
              <a:t>Two key relationships</a:t>
            </a:r>
          </a:p>
          <a:p>
            <a:pPr algn="l">
              <a:spcAft>
                <a:spcPts val="800"/>
              </a:spcAft>
            </a:pPr>
            <a:r>
              <a:rPr sz="1700" b="0">
                <a:solidFill>
                  <a:srgbClr val="1F3A5F"/>
                </a:solidFill>
                <a:latin typeface="Calibri"/>
              </a:rPr>
              <a:t>Lecturer ↔ Committee is many-to-many - resolved with the COMMITTEE_MEMBER junction table.</a:t>
            </a:r>
          </a:p>
          <a:p>
            <a:pPr algn="l">
              <a:spcAft>
                <a:spcPts val="1600"/>
              </a:spcAft>
            </a:pPr>
            <a:r>
              <a:rPr sz="1700" b="0">
                <a:solidFill>
                  <a:srgbClr val="1F3A5F"/>
                </a:solidFill>
                <a:latin typeface="Calibri"/>
              </a:rPr>
              <a:t>A lecturer chairs a committee (chairman_id) and writes articles (1-to-many).</a:t>
            </a:r>
          </a:p>
          <a:p>
            <a:pPr algn="l">
              <a:spcAft>
                <a:spcPts val="600"/>
              </a:spcAft>
            </a:pPr>
            <a:r>
              <a:rPr sz="2200" b="1">
                <a:solidFill>
                  <a:srgbClr val="2E74B5"/>
                </a:solidFill>
                <a:latin typeface="Calibri"/>
              </a:rPr>
              <a:t>Inheritance</a:t>
            </a:r>
          </a:p>
          <a:p>
            <a:pPr algn="l"/>
            <a:r>
              <a:rPr sz="1700" b="0">
                <a:solidFill>
                  <a:srgbClr val="1F3A5F"/>
                </a:solidFill>
                <a:latin typeface="Calibri"/>
              </a:rPr>
              <a:t>The Doctor / Professor hierarchy became one LECTURER table (with a degree_level column) plus a separate ARTICLE table.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0515600" cy="777240"/>
          </a:xfrm>
          <a:prstGeom prst="rect">
            <a:avLst/>
          </a:prstGeom>
          <a:noFill/>
        </p:spPr>
        <p:txBody>
          <a:bodyPr wrap="square" anchor="ctr">
            <a:spAutoFit/>
          </a:bodyPr>
          <a:lstStyle/>
          <a:p>
            <a:pPr algn="l"/>
            <a:r>
              <a:rPr sz="3000" b="1">
                <a:solidFill>
                  <a:srgbClr val="FFFFFF"/>
                </a:solidFill>
                <a:latin typeface="Calibri"/>
              </a:rPr>
              <a:t>The tables (normalized to 3NF)</a:t>
            </a:r>
          </a:p>
        </p:txBody>
      </p:sp>
      <p:sp>
        <p:nvSpPr>
          <p:cNvPr id="4" name="TextBox 3"/>
          <p:cNvSpPr txBox="1"/>
          <p:nvPr/>
        </p:nvSpPr>
        <p:spPr>
          <a:xfrm>
            <a:off x="11338560" y="109728"/>
            <a:ext cx="640080" cy="777240"/>
          </a:xfrm>
          <a:prstGeom prst="rect">
            <a:avLst/>
          </a:prstGeom>
          <a:noFill/>
        </p:spPr>
        <p:txBody>
          <a:bodyPr wrap="square" anchor="ctr">
            <a:spAutoFit/>
          </a:bodyPr>
          <a:lstStyle/>
          <a:p>
            <a:pPr algn="r"/>
            <a:r>
              <a:rPr sz="2200" b="1">
                <a:solidFill>
                  <a:srgbClr val="DDE8F3"/>
                </a:solidFill>
                <a:latin typeface="Calibri"/>
              </a:rPr>
              <a:t>4</a:t>
            </a:r>
          </a:p>
        </p:txBody>
      </p:sp>
      <p:graphicFrame>
        <p:nvGraphicFramePr>
          <p:cNvPr id="5" name="Table 4"/>
          <p:cNvGraphicFramePr>
            <a:graphicFrameLocks noGrp="1"/>
          </p:cNvGraphicFramePr>
          <p:nvPr/>
        </p:nvGraphicFramePr>
        <p:xfrm>
          <a:off x="457200" y="1280160"/>
          <a:ext cx="11247120" cy="42062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tblGrid>
              <a:tr h="600891">
                <a:tc>
                  <a:txBody>
                    <a:bodyPr/>
                    <a:lstStyle/>
                    <a:p>
                      <a:r>
                        <a:rPr sz="1300" b="1">
                          <a:solidFill>
                            <a:srgbClr val="FFFFFF"/>
                          </a:solidFill>
                          <a:latin typeface="Calibri"/>
                        </a:rPr>
                        <a:t>Table</a:t>
                      </a:r>
                    </a:p>
                  </a:txBody>
                  <a:tcPr>
                    <a:solidFill>
                      <a:srgbClr val="1F3A5F"/>
                    </a:solidFill>
                  </a:tcPr>
                </a:tc>
                <a:tc>
                  <a:txBody>
                    <a:bodyPr/>
                    <a:lstStyle/>
                    <a:p>
                      <a:r>
                        <a:rPr sz="1300" b="1">
                          <a:solidFill>
                            <a:srgbClr val="FFFFFF"/>
                          </a:solidFill>
                          <a:latin typeface="Calibri"/>
                        </a:rPr>
                        <a:t>Primary key</a:t>
                      </a:r>
                    </a:p>
                  </a:txBody>
                  <a:tcPr>
                    <a:solidFill>
                      <a:srgbClr val="1F3A5F"/>
                    </a:solidFill>
                  </a:tcPr>
                </a:tc>
                <a:tc>
                  <a:txBody>
                    <a:bodyPr/>
                    <a:lstStyle/>
                    <a:p>
                      <a:r>
                        <a:rPr sz="1300" b="1">
                          <a:solidFill>
                            <a:srgbClr val="FFFFFF"/>
                          </a:solidFill>
                          <a:latin typeface="Calibri"/>
                        </a:rPr>
                        <a:t>Foreign keys / constraints</a:t>
                      </a:r>
                    </a:p>
                  </a:txBody>
                  <a:tcPr>
                    <a:solidFill>
                      <a:srgbClr val="1F3A5F"/>
                    </a:solidFill>
                  </a:tcPr>
                </a:tc>
                <a:extLst>
                  <a:ext uri="{0D108BD9-81ED-4DB2-BD59-A6C34878D82A}">
                    <a16:rowId xmlns:a16="http://schemas.microsoft.com/office/drawing/2014/main" val="10000"/>
                  </a:ext>
                </a:extLst>
              </a:tr>
              <a:tr h="600891">
                <a:tc>
                  <a:txBody>
                    <a:bodyPr/>
                    <a:lstStyle/>
                    <a:p>
                      <a:r>
                        <a:rPr sz="1200" b="1">
                          <a:solidFill>
                            <a:srgbClr val="1F3A5F"/>
                          </a:solidFill>
                          <a:latin typeface="Calibri"/>
                        </a:rPr>
                        <a:t>college</a:t>
                      </a:r>
                    </a:p>
                  </a:txBody>
                  <a:tcPr>
                    <a:solidFill>
                      <a:srgbClr val="FFFFFF"/>
                    </a:solidFill>
                  </a:tcPr>
                </a:tc>
                <a:tc>
                  <a:txBody>
                    <a:bodyPr/>
                    <a:lstStyle/>
                    <a:p>
                      <a:r>
                        <a:rPr sz="1200" b="0">
                          <a:solidFill>
                            <a:srgbClr val="1F3A5F"/>
                          </a:solidFill>
                          <a:latin typeface="Calibri"/>
                        </a:rPr>
                        <a:t>college_id</a:t>
                      </a:r>
                    </a:p>
                  </a:txBody>
                  <a:tcPr>
                    <a:solidFill>
                      <a:srgbClr val="FFFFFF"/>
                    </a:solidFill>
                  </a:tcPr>
                </a:tc>
                <a:tc>
                  <a:txBody>
                    <a:bodyPr/>
                    <a:lstStyle/>
                    <a:p>
                      <a:r>
                        <a:rPr sz="1200" b="0">
                          <a:solidFill>
                            <a:srgbClr val="1F3A5F"/>
                          </a:solidFill>
                          <a:latin typeface="Consolas"/>
                        </a:rPr>
                        <a:t>name UNIQUE</a:t>
                      </a:r>
                    </a:p>
                  </a:txBody>
                  <a:tcPr>
                    <a:solidFill>
                      <a:srgbClr val="FFFFFF"/>
                    </a:solidFill>
                  </a:tcPr>
                </a:tc>
                <a:extLst>
                  <a:ext uri="{0D108BD9-81ED-4DB2-BD59-A6C34878D82A}">
                    <a16:rowId xmlns:a16="http://schemas.microsoft.com/office/drawing/2014/main" val="10001"/>
                  </a:ext>
                </a:extLst>
              </a:tr>
              <a:tr h="600891">
                <a:tc>
                  <a:txBody>
                    <a:bodyPr/>
                    <a:lstStyle/>
                    <a:p>
                      <a:r>
                        <a:rPr sz="1200" b="1">
                          <a:solidFill>
                            <a:srgbClr val="1F3A5F"/>
                          </a:solidFill>
                          <a:latin typeface="Calibri"/>
                        </a:rPr>
                        <a:t>department</a:t>
                      </a:r>
                    </a:p>
                  </a:txBody>
                  <a:tcPr>
                    <a:solidFill>
                      <a:srgbClr val="DDE8F3"/>
                    </a:solidFill>
                  </a:tcPr>
                </a:tc>
                <a:tc>
                  <a:txBody>
                    <a:bodyPr/>
                    <a:lstStyle/>
                    <a:p>
                      <a:r>
                        <a:rPr sz="1200" b="0">
                          <a:solidFill>
                            <a:srgbClr val="1F3A5F"/>
                          </a:solidFill>
                          <a:latin typeface="Calibri"/>
                        </a:rPr>
                        <a:t>department_id</a:t>
                      </a:r>
                    </a:p>
                  </a:txBody>
                  <a:tcPr>
                    <a:solidFill>
                      <a:srgbClr val="DDE8F3"/>
                    </a:solidFill>
                  </a:tcPr>
                </a:tc>
                <a:tc>
                  <a:txBody>
                    <a:bodyPr/>
                    <a:lstStyle/>
                    <a:p>
                      <a:r>
                        <a:rPr sz="1200" b="0">
                          <a:solidFill>
                            <a:srgbClr val="1F3A5F"/>
                          </a:solidFill>
                          <a:latin typeface="Consolas"/>
                        </a:rPr>
                        <a:t>college_id -&gt; college</a:t>
                      </a:r>
                    </a:p>
                  </a:txBody>
                  <a:tcPr>
                    <a:solidFill>
                      <a:srgbClr val="DDE8F3"/>
                    </a:solidFill>
                  </a:tcPr>
                </a:tc>
                <a:extLst>
                  <a:ext uri="{0D108BD9-81ED-4DB2-BD59-A6C34878D82A}">
                    <a16:rowId xmlns:a16="http://schemas.microsoft.com/office/drawing/2014/main" val="10002"/>
                  </a:ext>
                </a:extLst>
              </a:tr>
              <a:tr h="600891">
                <a:tc>
                  <a:txBody>
                    <a:bodyPr/>
                    <a:lstStyle/>
                    <a:p>
                      <a:r>
                        <a:rPr sz="1200" b="1">
                          <a:solidFill>
                            <a:srgbClr val="1F3A5F"/>
                          </a:solidFill>
                          <a:latin typeface="Calibri"/>
                        </a:rPr>
                        <a:t>lecturer</a:t>
                      </a:r>
                    </a:p>
                  </a:txBody>
                  <a:tcPr>
                    <a:solidFill>
                      <a:srgbClr val="FFFFFF"/>
                    </a:solidFill>
                  </a:tcPr>
                </a:tc>
                <a:tc>
                  <a:txBody>
                    <a:bodyPr/>
                    <a:lstStyle/>
                    <a:p>
                      <a:r>
                        <a:rPr sz="1200" b="0">
                          <a:solidFill>
                            <a:srgbClr val="1F3A5F"/>
                          </a:solidFill>
                          <a:latin typeface="Calibri"/>
                        </a:rPr>
                        <a:t>lecturer_id</a:t>
                      </a:r>
                    </a:p>
                  </a:txBody>
                  <a:tcPr>
                    <a:solidFill>
                      <a:srgbClr val="FFFFFF"/>
                    </a:solidFill>
                  </a:tcPr>
                </a:tc>
                <a:tc>
                  <a:txBody>
                    <a:bodyPr/>
                    <a:lstStyle/>
                    <a:p>
                      <a:r>
                        <a:rPr sz="1200" b="0">
                          <a:solidFill>
                            <a:srgbClr val="1F3A5F"/>
                          </a:solidFill>
                          <a:latin typeface="Consolas"/>
                        </a:rPr>
                        <a:t>department_id -&gt; department;  CHECK(degree_level);  CHECK(wage &gt;= 0)</a:t>
                      </a:r>
                    </a:p>
                  </a:txBody>
                  <a:tcPr>
                    <a:solidFill>
                      <a:srgbClr val="FFFFFF"/>
                    </a:solidFill>
                  </a:tcPr>
                </a:tc>
                <a:extLst>
                  <a:ext uri="{0D108BD9-81ED-4DB2-BD59-A6C34878D82A}">
                    <a16:rowId xmlns:a16="http://schemas.microsoft.com/office/drawing/2014/main" val="10003"/>
                  </a:ext>
                </a:extLst>
              </a:tr>
              <a:tr h="600891">
                <a:tc>
                  <a:txBody>
                    <a:bodyPr/>
                    <a:lstStyle/>
                    <a:p>
                      <a:r>
                        <a:rPr sz="1200" b="1">
                          <a:solidFill>
                            <a:srgbClr val="1F3A5F"/>
                          </a:solidFill>
                          <a:latin typeface="Calibri"/>
                        </a:rPr>
                        <a:t>committee</a:t>
                      </a:r>
                    </a:p>
                  </a:txBody>
                  <a:tcPr>
                    <a:solidFill>
                      <a:srgbClr val="DDE8F3"/>
                    </a:solidFill>
                  </a:tcPr>
                </a:tc>
                <a:tc>
                  <a:txBody>
                    <a:bodyPr/>
                    <a:lstStyle/>
                    <a:p>
                      <a:r>
                        <a:rPr sz="1200" b="0">
                          <a:solidFill>
                            <a:srgbClr val="1F3A5F"/>
                          </a:solidFill>
                          <a:latin typeface="Calibri"/>
                        </a:rPr>
                        <a:t>committee_id</a:t>
                      </a:r>
                    </a:p>
                  </a:txBody>
                  <a:tcPr>
                    <a:solidFill>
                      <a:srgbClr val="DDE8F3"/>
                    </a:solidFill>
                  </a:tcPr>
                </a:tc>
                <a:tc>
                  <a:txBody>
                    <a:bodyPr/>
                    <a:lstStyle/>
                    <a:p>
                      <a:r>
                        <a:rPr sz="1200" b="0">
                          <a:solidFill>
                            <a:srgbClr val="1F3A5F"/>
                          </a:solidFill>
                          <a:latin typeface="Consolas"/>
                        </a:rPr>
                        <a:t>chairman_id -&gt; lecturer</a:t>
                      </a:r>
                    </a:p>
                  </a:txBody>
                  <a:tcPr>
                    <a:solidFill>
                      <a:srgbClr val="DDE8F3"/>
                    </a:solidFill>
                  </a:tcPr>
                </a:tc>
                <a:extLst>
                  <a:ext uri="{0D108BD9-81ED-4DB2-BD59-A6C34878D82A}">
                    <a16:rowId xmlns:a16="http://schemas.microsoft.com/office/drawing/2014/main" val="10004"/>
                  </a:ext>
                </a:extLst>
              </a:tr>
              <a:tr h="600891">
                <a:tc>
                  <a:txBody>
                    <a:bodyPr/>
                    <a:lstStyle/>
                    <a:p>
                      <a:r>
                        <a:rPr sz="1200" b="1">
                          <a:solidFill>
                            <a:srgbClr val="1F3A5F"/>
                          </a:solidFill>
                          <a:latin typeface="Calibri"/>
                        </a:rPr>
                        <a:t>article</a:t>
                      </a:r>
                    </a:p>
                  </a:txBody>
                  <a:tcPr>
                    <a:solidFill>
                      <a:srgbClr val="FFFFFF"/>
                    </a:solidFill>
                  </a:tcPr>
                </a:tc>
                <a:tc>
                  <a:txBody>
                    <a:bodyPr/>
                    <a:lstStyle/>
                    <a:p>
                      <a:r>
                        <a:rPr sz="1200" b="0">
                          <a:solidFill>
                            <a:srgbClr val="1F3A5F"/>
                          </a:solidFill>
                          <a:latin typeface="Calibri"/>
                        </a:rPr>
                        <a:t>article_id</a:t>
                      </a:r>
                    </a:p>
                  </a:txBody>
                  <a:tcPr>
                    <a:solidFill>
                      <a:srgbClr val="FFFFFF"/>
                    </a:solidFill>
                  </a:tcPr>
                </a:tc>
                <a:tc>
                  <a:txBody>
                    <a:bodyPr/>
                    <a:lstStyle/>
                    <a:p>
                      <a:r>
                        <a:rPr sz="1200" b="0">
                          <a:solidFill>
                            <a:srgbClr val="1F3A5F"/>
                          </a:solidFill>
                          <a:latin typeface="Consolas"/>
                        </a:rPr>
                        <a:t>lecturer_id -&gt; lecturer  (ON DELETE CASCADE)</a:t>
                      </a:r>
                    </a:p>
                  </a:txBody>
                  <a:tcPr>
                    <a:solidFill>
                      <a:srgbClr val="FFFFFF"/>
                    </a:solidFill>
                  </a:tcPr>
                </a:tc>
                <a:extLst>
                  <a:ext uri="{0D108BD9-81ED-4DB2-BD59-A6C34878D82A}">
                    <a16:rowId xmlns:a16="http://schemas.microsoft.com/office/drawing/2014/main" val="10005"/>
                  </a:ext>
                </a:extLst>
              </a:tr>
              <a:tr h="600894">
                <a:tc>
                  <a:txBody>
                    <a:bodyPr/>
                    <a:lstStyle/>
                    <a:p>
                      <a:r>
                        <a:rPr sz="1200" b="1">
                          <a:solidFill>
                            <a:srgbClr val="1F3A5F"/>
                          </a:solidFill>
                          <a:latin typeface="Calibri"/>
                        </a:rPr>
                        <a:t>committee_member</a:t>
                      </a:r>
                    </a:p>
                  </a:txBody>
                  <a:tcPr>
                    <a:solidFill>
                      <a:srgbClr val="DDE8F3"/>
                    </a:solidFill>
                  </a:tcPr>
                </a:tc>
                <a:tc>
                  <a:txBody>
                    <a:bodyPr/>
                    <a:lstStyle/>
                    <a:p>
                      <a:r>
                        <a:rPr sz="1200" b="0">
                          <a:solidFill>
                            <a:srgbClr val="1F3A5F"/>
                          </a:solidFill>
                          <a:latin typeface="Calibri"/>
                        </a:rPr>
                        <a:t>(committee_id, lecturer_id)</a:t>
                      </a:r>
                    </a:p>
                  </a:txBody>
                  <a:tcPr>
                    <a:solidFill>
                      <a:srgbClr val="DDE8F3"/>
                    </a:solidFill>
                  </a:tcPr>
                </a:tc>
                <a:tc>
                  <a:txBody>
                    <a:bodyPr/>
                    <a:lstStyle/>
                    <a:p>
                      <a:r>
                        <a:rPr sz="1200" b="0">
                          <a:solidFill>
                            <a:srgbClr val="1F3A5F"/>
                          </a:solidFill>
                          <a:latin typeface="Consolas"/>
                        </a:rPr>
                        <a:t>both columns are FKs  -  junction for the N:N</a:t>
                      </a:r>
                    </a:p>
                  </a:txBody>
                  <a:tcPr>
                    <a:solidFill>
                      <a:srgbClr val="DDE8F3"/>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457200" y="5715000"/>
            <a:ext cx="11247120" cy="731520"/>
          </a:xfrm>
          <a:prstGeom prst="rect">
            <a:avLst/>
          </a:prstGeom>
          <a:noFill/>
        </p:spPr>
        <p:txBody>
          <a:bodyPr wrap="square" anchor="t">
            <a:spAutoFit/>
          </a:bodyPr>
          <a:lstStyle/>
          <a:p>
            <a:pPr algn="l"/>
            <a:r>
              <a:rPr sz="1400" b="0">
                <a:solidFill>
                  <a:srgbClr val="555555"/>
                </a:solidFill>
                <a:latin typeface="Calibri"/>
              </a:rPr>
              <a:t>3NF: no repeating groups, no partial dependencies, no transitive dependencies (e.g. college_id is NOT stored in lecturer - it is reached through the department).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09728"/>
            <a:ext cx="10515600" cy="777240"/>
          </a:xfrm>
          <a:prstGeom prst="rect">
            <a:avLst/>
          </a:prstGeom>
          <a:noFill/>
        </p:spPr>
        <p:txBody>
          <a:bodyPr wrap="square" anchor="ctr">
            <a:spAutoFit/>
          </a:bodyPr>
          <a:lstStyle/>
          <a:p>
            <a:pPr algn="l"/>
            <a:r>
              <a:rPr sz="3000" b="1">
                <a:solidFill>
                  <a:srgbClr val="FFFFFF"/>
                </a:solidFill>
                <a:latin typeface="Calibri"/>
              </a:rPr>
              <a:t>Queries, triggers &amp; demo</a:t>
            </a:r>
          </a:p>
        </p:txBody>
      </p:sp>
      <p:sp>
        <p:nvSpPr>
          <p:cNvPr id="4" name="TextBox 3"/>
          <p:cNvSpPr txBox="1"/>
          <p:nvPr/>
        </p:nvSpPr>
        <p:spPr>
          <a:xfrm>
            <a:off x="11338560" y="109728"/>
            <a:ext cx="640080" cy="777240"/>
          </a:xfrm>
          <a:prstGeom prst="rect">
            <a:avLst/>
          </a:prstGeom>
          <a:noFill/>
        </p:spPr>
        <p:txBody>
          <a:bodyPr wrap="square" anchor="ctr">
            <a:spAutoFit/>
          </a:bodyPr>
          <a:lstStyle/>
          <a:p>
            <a:pPr algn="r"/>
            <a:r>
              <a:rPr sz="2200" b="1">
                <a:solidFill>
                  <a:srgbClr val="DDE8F3"/>
                </a:solidFill>
                <a:latin typeface="Calibri"/>
              </a:rPr>
              <a:t>5</a:t>
            </a:r>
          </a:p>
        </p:txBody>
      </p:sp>
      <p:sp>
        <p:nvSpPr>
          <p:cNvPr id="5" name="TextBox 4"/>
          <p:cNvSpPr txBox="1"/>
          <p:nvPr/>
        </p:nvSpPr>
        <p:spPr>
          <a:xfrm>
            <a:off x="640080" y="1280160"/>
            <a:ext cx="10972800" cy="5120640"/>
          </a:xfrm>
          <a:prstGeom prst="rect">
            <a:avLst/>
          </a:prstGeom>
          <a:noFill/>
        </p:spPr>
        <p:txBody>
          <a:bodyPr wrap="square" anchor="t">
            <a:spAutoFit/>
          </a:bodyPr>
          <a:lstStyle/>
          <a:p>
            <a:pPr algn="l">
              <a:spcAft>
                <a:spcPts val="400"/>
              </a:spcAft>
            </a:pPr>
            <a:r>
              <a:rPr sz="2000" b="1">
                <a:solidFill>
                  <a:srgbClr val="2E74B5"/>
                </a:solidFill>
                <a:latin typeface="Calibri"/>
              </a:rPr>
              <a:t>13 SQL queries (requirement: at least 10)</a:t>
            </a:r>
          </a:p>
          <a:p>
            <a:pPr algn="l">
              <a:spcAft>
                <a:spcPts val="1400"/>
              </a:spcAft>
            </a:pPr>
            <a:r>
              <a:rPr sz="1600" b="0">
                <a:solidFill>
                  <a:srgbClr val="1F3A5F"/>
                </a:solidFill>
                <a:latin typeface="Calibri"/>
              </a:rPr>
              <a:t>e.g. average salary per department, committee sizes, article counts per lecturer, lecturers in no committee, highest-paid lecturer per department.</a:t>
            </a:r>
          </a:p>
          <a:p>
            <a:pPr algn="l">
              <a:spcAft>
                <a:spcPts val="400"/>
              </a:spcAft>
            </a:pPr>
            <a:r>
              <a:rPr sz="2000" b="1">
                <a:solidFill>
                  <a:srgbClr val="2E74B5"/>
                </a:solidFill>
                <a:latin typeface="Calibri"/>
              </a:rPr>
              <a:t>2 triggers (bonus)</a:t>
            </a:r>
          </a:p>
          <a:p>
            <a:pPr algn="l">
              <a:spcAft>
                <a:spcPts val="200"/>
              </a:spcAft>
            </a:pPr>
            <a:r>
              <a:rPr sz="1600" b="0">
                <a:solidFill>
                  <a:srgbClr val="1F3A5F"/>
                </a:solidFill>
                <a:latin typeface="Calibri"/>
              </a:rPr>
              <a:t>1) A committee chairman must be a Doctor or Professor.</a:t>
            </a:r>
          </a:p>
          <a:p>
            <a:pPr algn="l">
              <a:spcAft>
                <a:spcPts val="200"/>
              </a:spcAft>
            </a:pPr>
            <a:r>
              <a:rPr sz="1600" b="0">
                <a:solidFill>
                  <a:srgbClr val="1F3A5F"/>
                </a:solidFill>
                <a:latin typeface="Calibri"/>
              </a:rPr>
              <a:t>2) A committee member's degree must match the committee's level.</a:t>
            </a:r>
          </a:p>
          <a:p>
            <a:pPr algn="l">
              <a:spcAft>
                <a:spcPts val="1400"/>
              </a:spcAft>
            </a:pPr>
            <a:r>
              <a:rPr sz="1600" b="0">
                <a:solidFill>
                  <a:srgbClr val="1F3A5F"/>
                </a:solidFill>
                <a:latin typeface="Calibri"/>
              </a:rPr>
              <a:t>We moved these business rules from Java into the database, so they always hold no matter which client writes the data.</a:t>
            </a:r>
          </a:p>
          <a:p>
            <a:pPr algn="l">
              <a:spcAft>
                <a:spcPts val="400"/>
              </a:spcAft>
            </a:pPr>
            <a:r>
              <a:rPr sz="2000" b="1">
                <a:solidFill>
                  <a:srgbClr val="2E74B5"/>
                </a:solidFill>
                <a:latin typeface="Calibri"/>
              </a:rPr>
              <a:t>Live demo</a:t>
            </a:r>
          </a:p>
          <a:p>
            <a:pPr algn="l"/>
            <a:r>
              <a:rPr sz="1600" b="0">
                <a:solidFill>
                  <a:srgbClr val="1F3A5F"/>
                </a:solidFill>
                <a:latin typeface="Calibri"/>
              </a:rPr>
              <a:t>Show all lecturers -&gt; add one -&gt; search -&gt; update wage -&gt; try an illegal insert and watch the trigger block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773</Words>
  <Application>Microsoft Office PowerPoint</Application>
  <PresentationFormat>Widescreen</PresentationFormat>
  <Paragraphs>62</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Yuval Dror</cp:lastModifiedBy>
  <cp:revision>3</cp:revision>
  <dcterms:created xsi:type="dcterms:W3CDTF">2013-01-27T09:14:16Z</dcterms:created>
  <dcterms:modified xsi:type="dcterms:W3CDTF">2026-06-30T10:24:43Z</dcterms:modified>
  <cp:category/>
</cp:coreProperties>
</file>